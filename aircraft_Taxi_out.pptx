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252B3-3C36-4702-861C-4E918518D98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B135B-014A-44AA-9CAA-BFA26A4AB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54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B135B-014A-44AA-9CAA-BFA26A4AB4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38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4D60-7BC7-B60A-39F2-EDFD67DC4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10C89-D686-8CBB-FDF3-CE67FB71F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24340-BC02-B764-3906-DE2984F7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AF957-53C1-0773-0775-BDEBC4C9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0E440-C325-7BF8-596E-4C1BD95E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6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01C-1A44-44F5-8E0A-13CF1C72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6D79F-E1CB-7192-B5CF-F088DEBFB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58113-9C5C-A956-85B2-5086CAD7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DCE52-FB86-8E24-C448-A97FC439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91DC-4872-D0DF-B548-82EA16E0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F75F-4364-7C94-D73C-A6BF9BF1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C2C8E-51B6-C54D-74CF-BE1A8053C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F6326-79B0-0193-3C2C-4E8CE3A0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A460-8374-674B-A44E-E0E77DEE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882FE-5D5A-70C5-88DD-FA9F1991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4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92DD-0E6B-6BC1-87C7-82FD4D24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ECF80-EBF1-DD23-3D19-5C0220570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8DCCF-0639-BFC7-016E-93AD35A3C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FF545-1CE2-8065-0543-E163A06E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D2013-B11E-84A5-915C-9822635B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E7EC9-05DF-2E37-80EC-9264B8A7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0FD7-12F7-D9EF-985B-2712BBCC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B7A03-E789-6D11-591C-BBE067257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BCEB6-3896-307E-0BC5-01ED5D3EE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77554-8AB6-12E5-B8EE-C0730FE7A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1184A-2B48-7261-6208-C46273790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0658E-C0E4-99FF-F44C-776074A5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7B5A6-B04E-BDF4-3DDA-2C83EBC2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10FB4-BBA0-201D-DBF0-B8D7DAD5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44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2710-F289-4785-5DE9-204A09F2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8"/>
            <a:ext cx="10515600" cy="809916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03BE9-5397-4ABA-B8AB-28ECFF4F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225" y="6356349"/>
            <a:ext cx="1112209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Type any slide relevant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CA78C-E3CE-912A-0061-10C9A247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289" y="6356349"/>
            <a:ext cx="454089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6EBE01-C6FA-BCCA-DDCA-F7B1C2AEFFF6}"/>
              </a:ext>
            </a:extLst>
          </p:cNvPr>
          <p:cNvCxnSpPr/>
          <p:nvPr userDrawn="1"/>
        </p:nvCxnSpPr>
        <p:spPr>
          <a:xfrm>
            <a:off x="0" y="811764"/>
            <a:ext cx="1226975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103936-D32E-FA51-3879-B68546D6F5AB}"/>
              </a:ext>
            </a:extLst>
          </p:cNvPr>
          <p:cNvCxnSpPr/>
          <p:nvPr userDrawn="1"/>
        </p:nvCxnSpPr>
        <p:spPr>
          <a:xfrm>
            <a:off x="-38878" y="6356350"/>
            <a:ext cx="1226975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150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5477E-CBAC-A8C5-A368-3B38D566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4969B-9F75-4104-8322-8C1E3F1B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5504-669B-0A5F-6061-CF81504E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E80C3A-198D-A014-C240-7C53F5D5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8"/>
            <a:ext cx="10515600" cy="809916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3FE660-8137-F6AA-0AEF-8B90A3A4E9D7}"/>
              </a:ext>
            </a:extLst>
          </p:cNvPr>
          <p:cNvCxnSpPr/>
          <p:nvPr userDrawn="1"/>
        </p:nvCxnSpPr>
        <p:spPr>
          <a:xfrm>
            <a:off x="0" y="811764"/>
            <a:ext cx="1226975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B46993-595C-5910-73F5-3F0D1E169CB5}"/>
              </a:ext>
            </a:extLst>
          </p:cNvPr>
          <p:cNvCxnSpPr/>
          <p:nvPr userDrawn="1"/>
        </p:nvCxnSpPr>
        <p:spPr>
          <a:xfrm>
            <a:off x="-38878" y="6356350"/>
            <a:ext cx="1226975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43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6DE6-491D-74F2-E19B-99C09B4A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16E3-4696-28D7-74F3-C67C92DFD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98872-5CFE-A492-A634-AA23483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90377-5820-C45C-883C-40177A136A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DD287-D464-FFBF-1555-6CDB881A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F087A-E028-FB53-AF69-D405F185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6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3E92-FB1B-A46F-8731-9AC1A70C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CE79A-2D14-CF0F-178D-FF9F931F4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446B2-861B-390A-F3AC-4038A5A98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9ECC9-D47A-48B7-6E9B-382C9B648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12A8A-9B32-CEEE-925A-DEE6E61A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5EC49-AAA0-AF8F-C42C-E0D59F3C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24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181-CA69-FE1B-1338-6BF97093F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A2226-B372-5562-1AD3-991B0987B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2F9F1-C2C4-560A-452E-78AE8D4F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A91FD-2CBE-C03D-EBA9-9AD604C4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2E6A0-C814-F31B-4BC7-FB526B73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3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5FE51-6672-FC5D-0959-6AF1941A5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990AA-E49E-62EB-A11B-D97C4EDE1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B70A2-73E9-1961-4A52-EC9EF806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C2E53-01D5-4AB6-9FF4-D21B77DB674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FA3C4-5FE6-3FAD-7A4C-0E70CA9F0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2CBE0-470A-00B5-86C3-5582D97C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6678-14F0-40DB-9546-81F3160FD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8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77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transtats.bts.gov/DL_SelectFields.aspx?QO_fu146_anzr=b0-gvzr&amp;gnoyr_VQ=FGK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transtats.bts.gov/DL_SelectFields.aspx?QO_fu146_anzr=b0-gvzr&amp;gnoyr_VQ=FGK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light Takeoff Line Icon 7679228 Vector Art at Vecteezy">
            <a:extLst>
              <a:ext uri="{FF2B5EF4-FFF2-40B4-BE49-F238E27FC236}">
                <a16:creationId xmlns:a16="http://schemas.microsoft.com/office/drawing/2014/main" id="{FF2F9F46-DEA0-1C19-6285-4B5939FF6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4" t="30579" r="11812" b="36744"/>
          <a:stretch>
            <a:fillRect/>
          </a:stretch>
        </p:blipFill>
        <p:spPr bwMode="auto">
          <a:xfrm>
            <a:off x="3036878" y="2532996"/>
            <a:ext cx="859256" cy="369231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86E06-8AC8-1776-02B0-D45EB22FF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9900FF"/>
                </a:solidFill>
              </a:rPr>
              <a:t>Aircraft</a:t>
            </a:r>
            <a:r>
              <a:rPr lang="en-US" dirty="0"/>
              <a:t> – </a:t>
            </a:r>
            <a:r>
              <a:rPr lang="en-US" dirty="0">
                <a:solidFill>
                  <a:srgbClr val="0070C0"/>
                </a:solidFill>
              </a:rPr>
              <a:t>Taxi-out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44D90-EEE3-3A23-8C4C-CBDAD7A90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308247"/>
            <a:ext cx="6096000" cy="403432"/>
          </a:xfrm>
        </p:spPr>
        <p:txBody>
          <a:bodyPr/>
          <a:lstStyle/>
          <a:p>
            <a:r>
              <a:rPr lang="en-US" spc="300" dirty="0">
                <a:solidFill>
                  <a:srgbClr val="002060"/>
                </a:solidFill>
              </a:rPr>
              <a:t>What is the NEED for PREDICTION..?</a:t>
            </a:r>
          </a:p>
        </p:txBody>
      </p:sp>
    </p:spTree>
    <p:extLst>
      <p:ext uri="{BB962C8B-B14F-4D97-AF65-F5344CB8AC3E}">
        <p14:creationId xmlns:p14="http://schemas.microsoft.com/office/powerpoint/2010/main" val="3535181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4EB4D-99F6-74AA-8B61-98BC0745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Recovering Stability of a Towing Taxi-Out System from a Lateral  Instability with Differential Braking Perspective: Modeling and Simulation">
            <a:extLst>
              <a:ext uri="{FF2B5EF4-FFF2-40B4-BE49-F238E27FC236}">
                <a16:creationId xmlns:a16="http://schemas.microsoft.com/office/drawing/2014/main" id="{2C3A4BE5-6D4D-FC6C-39D6-7DB2665E1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0"/>
            <a:ext cx="113871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D972BA-8FB3-3D97-CD8A-D8E2E27EF6FA}"/>
              </a:ext>
            </a:extLst>
          </p:cNvPr>
          <p:cNvSpPr txBox="1"/>
          <p:nvPr/>
        </p:nvSpPr>
        <p:spPr>
          <a:xfrm>
            <a:off x="9814939" y="6565593"/>
            <a:ext cx="2377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Source: Google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AED7D-76E1-E05E-0EFA-06CC3A25553E}"/>
              </a:ext>
            </a:extLst>
          </p:cNvPr>
          <p:cNvSpPr txBox="1">
            <a:spLocks/>
          </p:cNvSpPr>
          <p:nvPr/>
        </p:nvSpPr>
        <p:spPr>
          <a:xfrm>
            <a:off x="7319480" y="0"/>
            <a:ext cx="4469295" cy="805070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002060"/>
                </a:solidFill>
              </a:rPr>
              <a:t>…after a long voyage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D0680F-EBD1-3B99-B9FA-E55AF471643F}"/>
              </a:ext>
            </a:extLst>
          </p:cNvPr>
          <p:cNvCxnSpPr>
            <a:cxnSpLocks/>
          </p:cNvCxnSpPr>
          <p:nvPr/>
        </p:nvCxnSpPr>
        <p:spPr>
          <a:xfrm flipH="1" flipV="1">
            <a:off x="805070" y="357809"/>
            <a:ext cx="894522" cy="139148"/>
          </a:xfrm>
          <a:prstGeom prst="straightConnector1">
            <a:avLst/>
          </a:prstGeom>
          <a:ln w="28575">
            <a:solidFill>
              <a:srgbClr val="00206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88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6A7E-3696-68A9-5769-E311E907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05070"/>
          </a:xfrm>
        </p:spPr>
        <p:txBody>
          <a:bodyPr/>
          <a:lstStyle/>
          <a:p>
            <a:r>
              <a:rPr lang="en-US" dirty="0"/>
              <a:t>Taxi in &amp; out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97535-17C6-ACDE-8E0B-E2D3C1AD9E8B}"/>
              </a:ext>
            </a:extLst>
          </p:cNvPr>
          <p:cNvSpPr txBox="1"/>
          <p:nvPr/>
        </p:nvSpPr>
        <p:spPr>
          <a:xfrm>
            <a:off x="0" y="6488668"/>
            <a:ext cx="2377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Google Images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7DD6A15-225B-4E11-7719-B9EDE831C74E}"/>
              </a:ext>
            </a:extLst>
          </p:cNvPr>
          <p:cNvGrpSpPr/>
          <p:nvPr/>
        </p:nvGrpSpPr>
        <p:grpSpPr>
          <a:xfrm>
            <a:off x="0" y="904461"/>
            <a:ext cx="12197302" cy="5396948"/>
            <a:chOff x="0" y="904461"/>
            <a:chExt cx="12197302" cy="5396948"/>
          </a:xfrm>
        </p:grpSpPr>
        <p:pic>
          <p:nvPicPr>
            <p:cNvPr id="3" name="Picture 4" descr="Taxi-out time prediction | Leonard, foresight and Innovation by VINCI">
              <a:extLst>
                <a:ext uri="{FF2B5EF4-FFF2-40B4-BE49-F238E27FC236}">
                  <a16:creationId xmlns:a16="http://schemas.microsoft.com/office/drawing/2014/main" id="{6C3EA480-0F6E-7DC1-5159-FCF2FB2A9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04461"/>
              <a:ext cx="12197302" cy="5396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 descr="What does taxi-out. mean? - Definition of taxi-out. - taxi-out. stands for  Adj. In the airline industry, referring to the period of time between when  an airplane leaves the gate and when">
              <a:extLst>
                <a:ext uri="{FF2B5EF4-FFF2-40B4-BE49-F238E27FC236}">
                  <a16:creationId xmlns:a16="http://schemas.microsoft.com/office/drawing/2014/main" id="{E13CE1F8-F8D6-6DA0-9305-29249645D6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40" t="29072" r="15855" b="10309"/>
            <a:stretch>
              <a:fillRect/>
            </a:stretch>
          </p:blipFill>
          <p:spPr bwMode="auto">
            <a:xfrm>
              <a:off x="8413101" y="904461"/>
              <a:ext cx="3778899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9960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An Introduction to Aircraft Taxiing">
            <a:extLst>
              <a:ext uri="{FF2B5EF4-FFF2-40B4-BE49-F238E27FC236}">
                <a16:creationId xmlns:a16="http://schemas.microsoft.com/office/drawing/2014/main" id="{65D61096-001D-50AD-CD16-410BE354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97" y="2944382"/>
            <a:ext cx="6099997" cy="391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3B10CE-5C72-BB05-E883-1390F20A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Prediction</a:t>
            </a:r>
          </a:p>
        </p:txBody>
      </p:sp>
      <p:pic>
        <p:nvPicPr>
          <p:cNvPr id="4098" name="Picture 2" descr="Taxiing - Wikipedia">
            <a:extLst>
              <a:ext uri="{FF2B5EF4-FFF2-40B4-BE49-F238E27FC236}">
                <a16:creationId xmlns:a16="http://schemas.microsoft.com/office/drawing/2014/main" id="{D5189C2C-E214-D0CD-C6C5-306DED4C6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705" y="811764"/>
            <a:ext cx="5015949" cy="334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round-level decarbonization initiatives offer promising avenues to reduce airport platforms' emissions | Roland Berger">
            <a:extLst>
              <a:ext uri="{FF2B5EF4-FFF2-40B4-BE49-F238E27FC236}">
                <a16:creationId xmlns:a16="http://schemas.microsoft.com/office/drawing/2014/main" id="{6628ECC1-4B0F-A79F-BCA9-61C872866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6355" y="1116594"/>
            <a:ext cx="3672177" cy="224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Why do aircraft taxi with strobes on?">
            <a:extLst>
              <a:ext uri="{FF2B5EF4-FFF2-40B4-BE49-F238E27FC236}">
                <a16:creationId xmlns:a16="http://schemas.microsoft.com/office/drawing/2014/main" id="{ECAD574D-F303-0312-5EC4-264C80B216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2" t="12590" r="802" b="26120"/>
          <a:stretch>
            <a:fillRect/>
          </a:stretch>
        </p:blipFill>
        <p:spPr bwMode="auto">
          <a:xfrm>
            <a:off x="8337144" y="4110502"/>
            <a:ext cx="3741388" cy="225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EB6A9F7-BBE3-0DB6-9B7C-7892E6847B19}"/>
              </a:ext>
            </a:extLst>
          </p:cNvPr>
          <p:cNvSpPr/>
          <p:nvPr/>
        </p:nvSpPr>
        <p:spPr>
          <a:xfrm rot="2708071">
            <a:off x="157831" y="1646611"/>
            <a:ext cx="1647432" cy="1321300"/>
          </a:xfrm>
          <a:prstGeom prst="rightArrow">
            <a:avLst>
              <a:gd name="adj1" fmla="val 8103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2400" dirty="0"/>
              <a:t>Long standing Queues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6A141D7-10D7-E418-B609-2E6B64D85DBA}"/>
              </a:ext>
            </a:extLst>
          </p:cNvPr>
          <p:cNvSpPr/>
          <p:nvPr/>
        </p:nvSpPr>
        <p:spPr>
          <a:xfrm rot="5400000">
            <a:off x="9788097" y="2891847"/>
            <a:ext cx="908691" cy="1321300"/>
          </a:xfrm>
          <a:prstGeom prst="rightArrow">
            <a:avLst>
              <a:gd name="adj1" fmla="val 59968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2400" dirty="0"/>
              <a:t>Take off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F461F88-3D54-4F5B-EB41-24F82EE84D34}"/>
              </a:ext>
            </a:extLst>
          </p:cNvPr>
          <p:cNvSpPr/>
          <p:nvPr/>
        </p:nvSpPr>
        <p:spPr>
          <a:xfrm>
            <a:off x="6689712" y="1622153"/>
            <a:ext cx="1647432" cy="1321300"/>
          </a:xfrm>
          <a:prstGeom prst="rightArrow">
            <a:avLst>
              <a:gd name="adj1" fmla="val 8103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ready </a:t>
            </a:r>
          </a:p>
          <a:p>
            <a:pPr algn="ctr"/>
            <a:r>
              <a:rPr lang="en-US" sz="2400" dirty="0"/>
              <a:t>to </a:t>
            </a:r>
          </a:p>
          <a:p>
            <a:pPr algn="ctr"/>
            <a:r>
              <a:rPr lang="en-US" sz="2400" dirty="0"/>
              <a:t>take-off</a:t>
            </a:r>
          </a:p>
        </p:txBody>
      </p:sp>
    </p:spTree>
    <p:extLst>
      <p:ext uri="{BB962C8B-B14F-4D97-AF65-F5344CB8AC3E}">
        <p14:creationId xmlns:p14="http://schemas.microsoft.com/office/powerpoint/2010/main" val="2543263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3EE2-7023-0AC3-0200-5034E85D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for “NEED for PREDICTION”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6B49E-B1F3-3956-AEC3-1A7B8B285FA1}"/>
              </a:ext>
            </a:extLst>
          </p:cNvPr>
          <p:cNvSpPr txBox="1"/>
          <p:nvPr/>
        </p:nvSpPr>
        <p:spPr>
          <a:xfrm>
            <a:off x="387212" y="1018545"/>
            <a:ext cx="546403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1. Engine Life &amp; Maintenance Costs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(Thermal Stress &amp; Engine Degradation)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sz="400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Cold Rotations and Thermal Shock:</a:t>
            </a:r>
            <a:r>
              <a:rPr lang="en-US" dirty="0">
                <a:solidFill>
                  <a:srgbClr val="0070C0"/>
                </a:solidFill>
              </a:rPr>
              <a:t> Jet engines operate at extreme internal temperatures. Erratic taxi-out results in thermal gradients across turbine blades which accelerate thermal fatigue.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4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B0C68-AEEA-F21E-B602-32FB2F690683}"/>
              </a:ext>
            </a:extLst>
          </p:cNvPr>
          <p:cNvSpPr txBox="1"/>
          <p:nvPr/>
        </p:nvSpPr>
        <p:spPr>
          <a:xfrm>
            <a:off x="6142796" y="3718626"/>
            <a:ext cx="604920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2. On-Time Performance (OTP) and </a:t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Downstream Network Cascades</a:t>
            </a:r>
          </a:p>
          <a:p>
            <a:pPr>
              <a:buNone/>
            </a:pPr>
            <a:endParaRPr lang="en-US" sz="4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Ripple Effect:</a:t>
            </a:r>
            <a:r>
              <a:rPr lang="en-US" dirty="0">
                <a:solidFill>
                  <a:srgbClr val="002060"/>
                </a:solidFill>
              </a:rPr>
              <a:t> Airlines operate hub-and-spoke model. A 15-minute taxi-out delay on an early morning flight compounds across every subsequent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Slot Adherence (CTOT / EDCT):</a:t>
            </a:r>
            <a:r>
              <a:rPr lang="en-US" dirty="0">
                <a:solidFill>
                  <a:srgbClr val="002060"/>
                </a:solidFill>
              </a:rPr>
              <a:t> Under air traffic control frameworks like Eurocontrol. Failing to complete the taxi-out on time results in losing the slot, forcing the aircraft to re-queue—often adding 30 to 60+ minutes of ground delay.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27A6E-7153-08F9-202C-62A3EB0D7639}"/>
              </a:ext>
            </a:extLst>
          </p:cNvPr>
          <p:cNvSpPr txBox="1"/>
          <p:nvPr/>
        </p:nvSpPr>
        <p:spPr>
          <a:xfrm>
            <a:off x="201268" y="6470373"/>
            <a:ext cx="52729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CTOT - Calculated Takeoff Time | EDCT - Expect Departure Clearance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3BBB9-0EB9-115D-4E00-E267EC3F1C00}"/>
              </a:ext>
            </a:extLst>
          </p:cNvPr>
          <p:cNvSpPr txBox="1"/>
          <p:nvPr/>
        </p:nvSpPr>
        <p:spPr>
          <a:xfrm>
            <a:off x="6125406" y="1010192"/>
            <a:ext cx="606659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3. Gate Availability and Apron Gridlock (Ground Logistics)</a:t>
            </a:r>
          </a:p>
          <a:p>
            <a:pPr>
              <a:buNone/>
            </a:pPr>
            <a:endParaRPr lang="en-US" sz="4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Inbound Gate Blockage:</a:t>
            </a:r>
            <a:r>
              <a:rPr lang="en-US" dirty="0">
                <a:solidFill>
                  <a:srgbClr val="002060"/>
                </a:solidFill>
              </a:rPr>
              <a:t> An aircraft delayed in taxi-out creates immediate bottleneck for incoming flights forcing arriving aircraft to hold on taxiways with engines running</a:t>
            </a:r>
          </a:p>
          <a:p>
            <a:endParaRPr lang="en-US" sz="4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Ground Support Equipment (GSE) Resource Allocation:</a:t>
            </a:r>
            <a:r>
              <a:rPr lang="en-US" dirty="0">
                <a:solidFill>
                  <a:srgbClr val="002060"/>
                </a:solidFill>
              </a:rPr>
              <a:t> Efficient taxi-out timelines dictate the precise release of ground power units, pushback tugs, and marshalling crews, allowing apron staff to immediately transition to next aircraft without idle labor costs.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1D46F-F5D3-72E0-8CCD-4F5028DB9188}"/>
              </a:ext>
            </a:extLst>
          </p:cNvPr>
          <p:cNvSpPr txBox="1"/>
          <p:nvPr/>
        </p:nvSpPr>
        <p:spPr>
          <a:xfrm>
            <a:off x="225838" y="3065982"/>
            <a:ext cx="5916958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4. Flight Crew Duty-Time (FTL) and Crew Legality Thresholds</a:t>
            </a:r>
          </a:p>
          <a:p>
            <a:pPr>
              <a:buNone/>
            </a:pPr>
            <a:endParaRPr lang="en-US" sz="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The "Ticking Clock" of Fatigue Rules:</a:t>
            </a:r>
            <a:r>
              <a:rPr lang="en-US" dirty="0">
                <a:solidFill>
                  <a:srgbClr val="C00000"/>
                </a:solidFill>
              </a:rPr>
              <a:t> Crew’s legal duty clock begins ticking the moment they report for duty, and continuous ground delays run directly into this window before the aircraft even leaves the ground.</a:t>
            </a:r>
          </a:p>
          <a:p>
            <a:endParaRPr lang="en-US" sz="4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The "Going Illegal" Cascade:</a:t>
            </a:r>
            <a:r>
              <a:rPr lang="en-US" dirty="0">
                <a:solidFill>
                  <a:srgbClr val="C00000"/>
                </a:solidFill>
              </a:rPr>
              <a:t> Extended taxi-out pushes crew’s legality to "illegal" mid-queue or just prior to takeoff. This forces the aircraft to return to the gate, and often results in outright flight cancellations—costing airlines thousands in hotel </a:t>
            </a:r>
            <a:r>
              <a:rPr lang="en-US" dirty="0" err="1">
                <a:solidFill>
                  <a:srgbClr val="C00000"/>
                </a:solidFill>
              </a:rPr>
              <a:t>accoms</a:t>
            </a:r>
            <a:r>
              <a:rPr lang="en-US" dirty="0">
                <a:solidFill>
                  <a:srgbClr val="C00000"/>
                </a:solidFill>
              </a:rPr>
              <a:t>., passenger compensation, and rebooking fees.</a:t>
            </a:r>
          </a:p>
        </p:txBody>
      </p:sp>
    </p:spTree>
    <p:extLst>
      <p:ext uri="{BB962C8B-B14F-4D97-AF65-F5344CB8AC3E}">
        <p14:creationId xmlns:p14="http://schemas.microsoft.com/office/powerpoint/2010/main" val="292910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04DCC-0840-120F-A875-FFE4189CB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131D-FFCF-9502-E08A-19A5D0E6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Datasource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29F52-DAA2-368B-E089-E65168719128}"/>
              </a:ext>
            </a:extLst>
          </p:cNvPr>
          <p:cNvSpPr txBox="1"/>
          <p:nvPr/>
        </p:nvSpPr>
        <p:spPr>
          <a:xfrm>
            <a:off x="201268" y="6470373"/>
            <a:ext cx="52729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CTOT - Calculated Takeoff Time | EDCT - Expect Departure Clearance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BE5CF-F338-396F-5639-D005D8B08C87}"/>
              </a:ext>
            </a:extLst>
          </p:cNvPr>
          <p:cNvSpPr txBox="1"/>
          <p:nvPr/>
        </p:nvSpPr>
        <p:spPr>
          <a:xfrm>
            <a:off x="3166442" y="222140"/>
            <a:ext cx="738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Bureau of Transportation Statistics (BTS) Airline On-Time Performance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221F93-9319-764F-7B2F-616CA78E5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4" y="1032056"/>
            <a:ext cx="12020492" cy="1004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91B9F3-6542-B1D6-9971-109FE147D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89" y="2476693"/>
            <a:ext cx="4579131" cy="2989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AC3E84-F0AC-EF03-8EA3-400413B24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282" y="2476694"/>
            <a:ext cx="4505415" cy="298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9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E120-4096-9FBE-DF11-CCB6DEC9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702A-6E74-6B29-FB41-2E2F70E4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Datasource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BC8C2-F496-DCBC-C947-E1F3F45ED3B8}"/>
              </a:ext>
            </a:extLst>
          </p:cNvPr>
          <p:cNvSpPr txBox="1"/>
          <p:nvPr/>
        </p:nvSpPr>
        <p:spPr>
          <a:xfrm>
            <a:off x="201268" y="6470373"/>
            <a:ext cx="52729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CTOT - Calculated Takeoff Time | EDCT - Expect Departure Clearance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047B0-F079-7199-AB7F-6EF85BB5294A}"/>
              </a:ext>
            </a:extLst>
          </p:cNvPr>
          <p:cNvSpPr txBox="1"/>
          <p:nvPr/>
        </p:nvSpPr>
        <p:spPr>
          <a:xfrm>
            <a:off x="3166442" y="222140"/>
            <a:ext cx="738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Bureau of Transportation Statistics (BTS) Airline On-Time Performance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8D2616-9E4B-A467-3685-9E69CF1C6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4" y="1032056"/>
            <a:ext cx="12020492" cy="1004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A719B6-1A56-59CC-98DD-3070F13B2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89" y="2476693"/>
            <a:ext cx="4579131" cy="2989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686A93-B1B4-EAE7-ED93-C27278E88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282" y="2476694"/>
            <a:ext cx="4505415" cy="298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17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</TotalTime>
  <Words>415</Words>
  <Application>Microsoft Office PowerPoint</Application>
  <PresentationFormat>Widescreen</PresentationFormat>
  <Paragraphs>38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Aircraft – Taxi-out Prediction</vt:lpstr>
      <vt:lpstr>PowerPoint Presentation</vt:lpstr>
      <vt:lpstr>Taxi in &amp; out Process</vt:lpstr>
      <vt:lpstr>Need for Prediction</vt:lpstr>
      <vt:lpstr>Reasons for “NEED for PREDICTION”</vt:lpstr>
      <vt:lpstr>Datasource</vt:lpstr>
      <vt:lpstr>Datasource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Rephath Athyala</dc:creator>
  <cp:lastModifiedBy>Rephath Athyala</cp:lastModifiedBy>
  <cp:revision>9</cp:revision>
  <dcterms:created xsi:type="dcterms:W3CDTF">2026-10-15T18:12:29Z</dcterms:created>
  <dcterms:modified xsi:type="dcterms:W3CDTF">2026-10-16T14:58:00Z</dcterms:modified>
</cp:coreProperties>
</file>